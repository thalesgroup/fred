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22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deaacc-46ad-8285-0a48-deb14fa507cd}">
          <p14:sldIdLst>
            <p14:sldId id="256"/>
            <p14:sldId id="257"/>
          </p14:sldIdLst>
        </p14:section>
        <p14:section name="Layouts" id="{85bd7615-6342-5fa6-619f-e47a0f4e085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losing" id="{b5df2a99-dc0e-5a76-d0c2-2b4689f962dd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Slides</c:v>
                </c:pt>
              </c:strCache>
            </c:strRef>
          </c:tx>
          <c:spPr>
            <a:solidFill>
              <a:srgbClr val="4851C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Title</c:v>
                  </c:pt>
                  <c:pt idx="1">
                    <c:v>Content</c:v>
                  </c:pt>
                  <c:pt idx="2">
                    <c:v>Figures</c:v>
                  </c:pt>
                  <c:pt idx="3">
                    <c:v>Chart</c:v>
                  </c:pt>
                  <c:pt idx="4">
                    <c:v>Closing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5E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12.0</c:v>
                </c:pt>
                <c:pt idx="1">
                  <c:v>15.0</c:v>
                </c:pt>
                <c:pt idx="2">
                  <c:v>14.0</c:v>
                </c:pt>
                <c:pt idx="3">
                  <c:v>18.0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2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14.0</c:v>
                </c:pt>
                <c:pt idx="1">
                  <c:v>17.0</c:v>
                </c:pt>
                <c:pt idx="2">
                  <c:v>19.0</c:v>
                </c:pt>
                <c:pt idx="3">
                  <c:v>22.0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chemeClr val="tx1">
                <a:lumMod val="40000"/>
                <a:lumOff val="60000"/>
              </a:scheme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chemeClr val="tx1">
                  <a:lumMod val="75000"/>
                  <a:lumOff val="25000"/>
                </a:schemeClr>
              </a:solidFill>
            </a:defRPr>
          </a:pPr>
        </a:p>
      </c:txPr>
    </c:legend>
    <c:dispBlanksAs val="gap"/>
  </c:chart>
  <c:txPr>
    <a:bodyPr/>
    <a:lstStyle/>
    <a:p>
      <a:pPr>
        <a:defRPr sz="1200" b="0">
          <a:solidFill>
            <a:schemeClr val="tx1">
              <a:lumMod val="75000"/>
              <a:lumOff val="25000"/>
            </a:schemeClr>
          </a:solidFill>
          <a:latin typeface="+mn-l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Title. Use once, as the first slide. Placeholders: title (max ~60 chars), subtitle (one sentence), meta (author and 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Agenda. 3 to 6 items, one line each; the list is numbered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Section. Divider between parts of a long deck. section_number is a two-digit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and Content. 3 to 6 bullets of at most ~90 characters. Prefer a more visual layout when the content allows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Two Content. Two parallel lists of similar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Comparison. Two options side by side; headings of 1 to 3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Content with Image. The image placeholder is 5.48 x 6.15 in; crop images to that ratio (about 9:10).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Key Figures. Values of at most 5 characters (e.g. 42%, 3.2M, x4); labels of at most ~60 characters. caption is for the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Process. Exactly 4 steps; titles of 1 to 3 words, bodies of at most ~80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Chart. Insert a native chart into the chart placeholder; takeaway holds 1 to 3 short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Table. Header row and up to about 10 short rows, 5 columns; longer tables continue on a second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Quote. At most ~180 characters; attribution is name and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Only. Use for diagrams and anything the other layouts cannot express. Keep 0.6 in side margins and the 1.65 to 6.6 in content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Closing. Final slide: thanks, contact or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Blank. Empty canvas with slide number; for full-bleed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Fred Chart Wide. A native chart across the content width, for a chart that needs no commentary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hart Wid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chart"/>
          <p:cNvSpPr/>
          <p:nvPr>
            <p:ph idx="101" type="chart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Chart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6" name="subtitle"/>
          <p:cNvSpPr/>
          <p:nvPr>
            <p:ph idx="104" type="body" hasCustomPrompt="1"/>
          </p:nvPr>
        </p:nvSpPr>
        <p:spPr>
          <a:xfrm>
            <a:off x="548640" y="38404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0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0E0FF"/>
                </a:solidFill>
              </a:rPr>
              <a:t>Subtitle</a:t>
            </a:r>
            <a:endParaRPr lang="en-US" sz="2000" dirty="0"/>
          </a:p>
        </p:txBody>
      </p:sp>
      <p:sp>
        <p:nvSpPr>
          <p:cNvPr id="7" name="meta"/>
          <p:cNvSpPr/>
          <p:nvPr>
            <p:ph idx="105" type="body" hasCustomPrompt="1"/>
          </p:nvPr>
        </p:nvSpPr>
        <p:spPr>
          <a:xfrm>
            <a:off x="548640" y="5760720"/>
            <a:ext cx="74980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rgbClr val="BEC2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BEC2FF"/>
                </a:solidFill>
              </a:rPr>
              <a:t>Author · Date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548640" y="548640"/>
            <a:ext cx="3200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4" name="body"/>
          <p:cNvSpPr/>
          <p:nvPr>
            <p:ph idx="102" type="body" hasCustomPrompt="1"/>
          </p:nvPr>
        </p:nvSpPr>
        <p:spPr>
          <a:xfrm>
            <a:off x="4846320" y="822960"/>
            <a:ext cx="676656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Agenda item</a:t>
            </a:r>
            <a:endParaRPr lang="en-US" sz="20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ection_number"/>
          <p:cNvSpPr/>
          <p:nvPr>
            <p:ph idx="103" type="body" hasCustomPrompt="1"/>
          </p:nvPr>
        </p:nvSpPr>
        <p:spPr>
          <a:xfrm>
            <a:off x="548640" y="146304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4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4"/>
                </a:solidFill>
              </a:rPr>
              <a:t>01</a:t>
            </a:r>
            <a:endParaRPr lang="en-US" sz="5400" dirty="0"/>
          </a:p>
        </p:txBody>
      </p:sp>
      <p:sp>
        <p:nvSpPr>
          <p:cNvPr id="6" name="title"/>
          <p:cNvSpPr/>
          <p:nvPr>
            <p:ph idx="104" type="title" hasCustomPrompt="1"/>
          </p:nvPr>
        </p:nvSpPr>
        <p:spPr>
          <a:xfrm>
            <a:off x="548640" y="256032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7" name="subtitle"/>
          <p:cNvSpPr/>
          <p:nvPr>
            <p:ph idx="105" type="body" hasCustomPrompt="1"/>
          </p:nvPr>
        </p:nvSpPr>
        <p:spPr>
          <a:xfrm>
            <a:off x="548640" y="411480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Section introduction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BEC2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and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Bullet point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wo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>
          <a:xfrm>
            <a:off x="548640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>
          <a:xfrm>
            <a:off x="6278728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Right column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mparis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278728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eft_heading"/>
          <p:cNvSpPr/>
          <p:nvPr>
            <p:ph idx="103" type="body" hasCustomPrompt="1"/>
          </p:nvPr>
        </p:nvSpPr>
        <p:spPr>
          <a:xfrm>
            <a:off x="868680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Option A</a:t>
            </a:r>
            <a:endParaRPr lang="en-US" sz="2200" dirty="0"/>
          </a:p>
        </p:txBody>
      </p:sp>
      <p:sp>
        <p:nvSpPr>
          <p:cNvPr id="6" name="left"/>
          <p:cNvSpPr/>
          <p:nvPr>
            <p:ph idx="104" type="body" hasCustomPrompt="1"/>
          </p:nvPr>
        </p:nvSpPr>
        <p:spPr>
          <a:xfrm>
            <a:off x="868680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7" name="right_heading"/>
          <p:cNvSpPr/>
          <p:nvPr>
            <p:ph idx="105" type="body" hasCustomPrompt="1"/>
          </p:nvPr>
        </p:nvSpPr>
        <p:spPr>
          <a:xfrm>
            <a:off x="6598768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2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Option B</a:t>
            </a:r>
            <a:endParaRPr lang="en-US" sz="2200" dirty="0"/>
          </a:p>
        </p:txBody>
      </p:sp>
      <p:sp>
        <p:nvSpPr>
          <p:cNvPr id="8" name="right"/>
          <p:cNvSpPr/>
          <p:nvPr>
            <p:ph idx="106" type="body" hasCustomPrompt="1"/>
          </p:nvPr>
        </p:nvSpPr>
        <p:spPr>
          <a:xfrm>
            <a:off x="6598768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ntent with 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56692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566928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Bullet point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6629400" y="411480"/>
            <a:ext cx="5013655" cy="5623560"/>
          </a:xfrm>
          <a:prstGeom prst="roundRect">
            <a:avLst>
              <a:gd name="adj" fmla="val 29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mage"/>
          <p:cNvSpPr/>
          <p:nvPr>
            <p:ph idx="103" hasCustomPrompt="1"/>
          </p:nvPr>
        </p:nvSpPr>
        <p:spPr>
          <a:xfrm>
            <a:off x="6629400" y="411480"/>
            <a:ext cx="5013655" cy="5623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Image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Key Figure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1_value"/>
          <p:cNvSpPr/>
          <p:nvPr>
            <p:ph idx="102" type="body" hasCustomPrompt="1"/>
          </p:nvPr>
        </p:nvSpPr>
        <p:spPr>
          <a:xfrm>
            <a:off x="868680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5" name="stat1_label"/>
          <p:cNvSpPr/>
          <p:nvPr>
            <p:ph idx="103" type="body" hasCustomPrompt="1"/>
          </p:nvPr>
        </p:nvSpPr>
        <p:spPr>
          <a:xfrm>
            <a:off x="868680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6" name="Shape 1"/>
          <p:cNvSpPr/>
          <p:nvPr/>
        </p:nvSpPr>
        <p:spPr>
          <a:xfrm>
            <a:off x="4368698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2_value"/>
          <p:cNvSpPr/>
          <p:nvPr>
            <p:ph idx="105" type="body" hasCustomPrompt="1"/>
          </p:nvPr>
        </p:nvSpPr>
        <p:spPr>
          <a:xfrm>
            <a:off x="4688738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8" name="stat2_label"/>
          <p:cNvSpPr/>
          <p:nvPr>
            <p:ph idx="106" type="body" hasCustomPrompt="1"/>
          </p:nvPr>
        </p:nvSpPr>
        <p:spPr>
          <a:xfrm>
            <a:off x="4688738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9" name="Shape 2"/>
          <p:cNvSpPr/>
          <p:nvPr/>
        </p:nvSpPr>
        <p:spPr>
          <a:xfrm>
            <a:off x="8188757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3_value"/>
          <p:cNvSpPr/>
          <p:nvPr>
            <p:ph idx="108" type="body" hasCustomPrompt="1"/>
          </p:nvPr>
        </p:nvSpPr>
        <p:spPr>
          <a:xfrm>
            <a:off x="8508797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11" name="stat3_label"/>
          <p:cNvSpPr/>
          <p:nvPr>
            <p:ph idx="109" type="body" hasCustomPrompt="1"/>
          </p:nvPr>
        </p:nvSpPr>
        <p:spPr>
          <a:xfrm>
            <a:off x="8508797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12" name="caption"/>
          <p:cNvSpPr/>
          <p:nvPr>
            <p:ph idx="110" type="body" hasCustomPrompt="1"/>
          </p:nvPr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200" dirty="0">
                <a:solidFill>
                  <a:srgbClr val="6A6B6D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A6B6D"/>
                </a:solidFill>
              </a:rPr>
              <a:t>Source</a:t>
            </a:r>
            <a:endParaRPr lang="en-US" sz="1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Proces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2296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tep1_title"/>
          <p:cNvSpPr/>
          <p:nvPr>
            <p:ph idx="104" type="body" hasCustomPrompt="1"/>
          </p:nvPr>
        </p:nvSpPr>
        <p:spPr>
          <a:xfrm>
            <a:off x="822960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7" name="step1_body"/>
          <p:cNvSpPr/>
          <p:nvPr>
            <p:ph idx="105" type="body" hasCustomPrompt="1"/>
          </p:nvPr>
        </p:nvSpPr>
        <p:spPr>
          <a:xfrm>
            <a:off x="822960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3390824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3665144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366514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tep2_title"/>
          <p:cNvSpPr/>
          <p:nvPr>
            <p:ph idx="109" type="body" hasCustomPrompt="1"/>
          </p:nvPr>
        </p:nvSpPr>
        <p:spPr>
          <a:xfrm>
            <a:off x="3665144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3665144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6233008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7"/>
          <p:cNvSpPr/>
          <p:nvPr/>
        </p:nvSpPr>
        <p:spPr>
          <a:xfrm>
            <a:off x="6507328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8"/>
          <p:cNvSpPr/>
          <p:nvPr/>
        </p:nvSpPr>
        <p:spPr>
          <a:xfrm>
            <a:off x="65073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tep3_title"/>
          <p:cNvSpPr/>
          <p:nvPr>
            <p:ph idx="114" type="body" hasCustomPrompt="1"/>
          </p:nvPr>
        </p:nvSpPr>
        <p:spPr>
          <a:xfrm>
            <a:off x="6507328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7" name="step3_body"/>
          <p:cNvSpPr/>
          <p:nvPr>
            <p:ph idx="115" type="body" hasCustomPrompt="1"/>
          </p:nvPr>
        </p:nvSpPr>
        <p:spPr>
          <a:xfrm>
            <a:off x="6507328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9075191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9349511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934951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step4_title"/>
          <p:cNvSpPr/>
          <p:nvPr>
            <p:ph idx="119" type="body" hasCustomPrompt="1"/>
          </p:nvPr>
        </p:nvSpPr>
        <p:spPr>
          <a:xfrm>
            <a:off x="9349511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22" name="step4_body"/>
          <p:cNvSpPr/>
          <p:nvPr>
            <p:ph idx="120" type="body" hasCustomPrompt="1"/>
          </p:nvPr>
        </p:nvSpPr>
        <p:spPr>
          <a:xfrm>
            <a:off x="9349511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har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chart"/>
          <p:cNvSpPr/>
          <p:nvPr>
            <p:ph idx="101" type="chart" hasCustomPrompt="1"/>
          </p:nvPr>
        </p:nvSpPr>
        <p:spPr>
          <a:xfrm>
            <a:off x="548640" y="1508760"/>
            <a:ext cx="74066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Chart</a:t>
            </a:r>
            <a:endParaRPr lang="en-US" dirty="0"/>
          </a:p>
        </p:txBody>
      </p:sp>
      <p:sp>
        <p:nvSpPr>
          <p:cNvPr id="4" name="Shape 0"/>
          <p:cNvSpPr/>
          <p:nvPr/>
        </p:nvSpPr>
        <p:spPr>
          <a:xfrm>
            <a:off x="8321040" y="1508760"/>
            <a:ext cx="3322015" cy="4526280"/>
          </a:xfrm>
          <a:prstGeom prst="roundRect">
            <a:avLst>
              <a:gd name="adj" fmla="val 4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keaway"/>
          <p:cNvSpPr/>
          <p:nvPr>
            <p:ph idx="103" type="body" hasCustomPrompt="1"/>
          </p:nvPr>
        </p:nvSpPr>
        <p:spPr>
          <a:xfrm>
            <a:off x="8641080" y="1828800"/>
            <a:ext cx="2681935" cy="3886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Key takeaway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able"/>
          <p:cNvSpPr/>
          <p:nvPr>
            <p:ph idx="101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Table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Quot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quote"/>
          <p:cNvSpPr/>
          <p:nvPr>
            <p:ph idx="101" type="body" hasCustomPrompt="1"/>
          </p:nvPr>
        </p:nvSpPr>
        <p:spPr>
          <a:xfrm>
            <a:off x="1463040" y="1828800"/>
            <a:ext cx="932688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Quote</a:t>
            </a:r>
            <a:endParaRPr lang="en-US" sz="3000" dirty="0"/>
          </a:p>
        </p:txBody>
      </p:sp>
      <p:sp>
        <p:nvSpPr>
          <p:cNvPr id="4" name="attribution"/>
          <p:cNvSpPr/>
          <p:nvPr>
            <p:ph idx="102" type="body" hasCustomPrompt="1"/>
          </p:nvPr>
        </p:nvSpPr>
        <p:spPr>
          <a:xfrm>
            <a:off x="1463040" y="466344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Name, role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6" name="body"/>
          <p:cNvSpPr/>
          <p:nvPr>
            <p:ph idx="104" type="body" hasCustomPrompt="1"/>
          </p:nvPr>
        </p:nvSpPr>
        <p:spPr>
          <a:xfrm>
            <a:off x="548640" y="356616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Contact or next steps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Blan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5" r:id="rId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Fred default presentation template</a:t>
            </a:r>
            <a:endParaRPr lang="en-US"/>
          </a:p>
        </p:txBody>
      </p:sp>
      <p:sp>
        <p:nvSpPr>
          <p:cNvPr id="3" name="sub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The fallback design the slide-generator agent uses when no custom template is provided</a:t>
            </a:r>
            <a:endParaRPr lang="en-US"/>
          </a:p>
        </p:txBody>
      </p:sp>
      <p:sp>
        <p:nvSpPr>
          <p:cNvPr id="4" name="meta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Fred open source project · Apache-2.0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1"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/>
          </a:p>
        </p:txBody>
      </p:sp>
      <p:sp>
        <p:nvSpPr>
          <p:cNvPr id="3" name="body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  <a:p>
            <a:r>
              <a:rPr lang="en-US"/>
              <a:t>The 15 layouts at a glance</a:t>
            </a:r>
            <a:endParaRPr lang="en-US"/>
          </a:p>
          <a:p>
            <a:r>
              <a:rPr lang="en-US"/>
              <a:t>How the agent fills them</a:t>
            </a:r>
            <a:endParaRPr lang="en-US"/>
          </a:p>
          <a:p>
            <a:r>
              <a:rPr lang="en-US"/>
              <a:t>Using your own template instead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_number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01</a:t>
            </a:r>
            <a:endParaRPr lang="en-US"/>
          </a:p>
        </p:txBody>
      </p:sp>
      <p:sp>
        <p:nvSpPr>
          <p:cNvPr id="3" name="title"/>
          <p:cNvSpPr/>
          <p:nvPr>
            <p:ph idx="104" type="title" hasCustomPrompt="1"/>
          </p:nvPr>
        </p:nvSpPr>
        <p:spPr/>
        <p:txBody>
          <a:bodyPr/>
          <a:lstStyle/>
          <a:p>
            <a:r>
              <a:rPr lang="en-US"/>
              <a:t>Layouts at a glance</a:t>
            </a:r>
            <a:endParaRPr lang="en-US"/>
          </a:p>
        </p:txBody>
      </p:sp>
      <p:sp>
        <p:nvSpPr>
          <p:cNvPr id="4" name="subtitl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Every slide frame is a named layout with named placeholders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Users without a corporate template still get a consistent, readable deck</a:t>
            </a:r>
            <a:endParaRPr lang="en-US"/>
          </a:p>
          <a:p>
            <a:r>
              <a:rPr lang="en-US"/>
              <a:t>Named layouts let the agent pick a frame by intent instead of drawing shapes</a:t>
            </a:r>
            <a:endParaRPr lang="en-US"/>
          </a:p>
          <a:p>
            <a:r>
              <a:rPr lang="en-US"/>
              <a:t>Theme colours and fonts are defined once, so restyling means editing one file</a:t>
            </a:r>
            <a:endParaRPr lang="en-US"/>
          </a:p>
          <a:p>
            <a:r>
              <a:rPr lang="en-US"/>
              <a:t>Arial renders with identical metrics in PowerPoint and LibreOffice, which Fred uses for PDF conversion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What the agent controls, and what it does not</a:t>
            </a:r>
            <a:endParaRPr lang="en-US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Which layout each slide uses</a:t>
            </a:r>
            <a:endParaRPr lang="en-US"/>
          </a:p>
          <a:p>
            <a:r>
              <a:rPr lang="en-US"/>
              <a:t>Text in every placeholder</a:t>
            </a:r>
            <a:endParaRPr lang="en-US"/>
          </a:p>
          <a:p>
            <a:r>
              <a:rPr lang="en-US"/>
              <a:t>Charts, tables and images</a:t>
            </a:r>
            <a:endParaRPr lang="en-US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Colours, fonts and sizes</a:t>
            </a:r>
            <a:endParaRPr lang="en-US"/>
          </a:p>
          <a:p>
            <a:r>
              <a:rPr lang="en-US"/>
              <a:t>Positions and margins</a:t>
            </a:r>
            <a:endParaRPr lang="en-US"/>
          </a:p>
          <a:p>
            <a:r>
              <a:rPr lang="en-US"/>
              <a:t>Slide numbers and backgrounds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Default template or custom template</a:t>
            </a:r>
            <a:endParaRPr lang="en-US"/>
          </a:p>
        </p:txBody>
      </p:sp>
      <p:sp>
        <p:nvSpPr>
          <p:cNvPr id="3" name="left_heading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Default</a:t>
            </a:r>
            <a:endParaRPr lang="en-US"/>
          </a:p>
        </p:txBody>
      </p:sp>
      <p:sp>
        <p:nvSpPr>
          <p:cNvPr id="4" name="left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Used when the user uploads nothing</a:t>
            </a:r>
            <a:endParaRPr lang="en-US"/>
          </a:p>
          <a:p>
            <a:r>
              <a:rPr lang="en-US"/>
              <a:t>Known layouts, predictable output</a:t>
            </a:r>
            <a:endParaRPr lang="en-US"/>
          </a:p>
          <a:p>
            <a:r>
              <a:rPr lang="en-US"/>
              <a:t>Ships with Fred under Apache-2.0</a:t>
            </a:r>
            <a:endParaRPr lang="en-US"/>
          </a:p>
        </p:txBody>
      </p:sp>
      <p:sp>
        <p:nvSpPr>
          <p:cNvPr id="5" name="right_heading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</a:t>
            </a:r>
            <a:endParaRPr lang="en-US"/>
          </a:p>
        </p:txBody>
      </p:sp>
      <p:sp>
        <p:nvSpPr>
          <p:cNvPr id="6" name="right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Uploaded by the user or the team</a:t>
            </a:r>
            <a:endParaRPr lang="en-US"/>
          </a:p>
          <a:p>
            <a:r>
              <a:rPr lang="en-US"/>
              <a:t>Layouts discovered at upload time</a:t>
            </a:r>
            <a:endParaRPr lang="en-US"/>
          </a:p>
          <a:p>
            <a:r>
              <a:rPr lang="en-US"/>
              <a:t>Brand stays under the owner's licence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Pairing text with a visual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The image placeholder fills the right panel</a:t>
            </a:r>
            <a:endParaRPr lang="en-US"/>
          </a:p>
          <a:p>
            <a:r>
              <a:rPr lang="en-US"/>
              <a:t>Screenshots, diagrams or photos all work</a:t>
            </a:r>
            <a:endParaRPr lang="en-US"/>
          </a:p>
          <a:p>
            <a:r>
              <a:rPr lang="en-US"/>
              <a:t>Without an image, the panel stays a neutral block</a:t>
            </a:r>
            <a:endParaRPr lang="en-US"/>
          </a:p>
        </p:txBody>
      </p:sp>
      <p:sp>
        <p:nvSpPr>
          <p:cNvPr id="5" name="image"/>
          <p:cNvSpPr/>
          <p:nvPr>
            <p:ph idx="103" hasCustomPrompt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Three numbers worth remembering</a:t>
            </a:r>
            <a:endParaRPr lang="en-US"/>
          </a:p>
        </p:txBody>
      </p:sp>
      <p:sp>
        <p:nvSpPr>
          <p:cNvPr id="3" name="stat1_value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15</a:t>
            </a:r>
            <a:endParaRPr lang="en-US"/>
          </a:p>
        </p:txBody>
      </p:sp>
      <p:sp>
        <p:nvSpPr>
          <p:cNvPr id="4" name="stat1_label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layouts cover most business presentations</a:t>
            </a:r>
            <a:endParaRPr lang="en-US"/>
          </a:p>
        </p:txBody>
      </p:sp>
      <p:sp>
        <p:nvSpPr>
          <p:cNvPr id="5" name="stat2_valu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2</a:t>
            </a:r>
            <a:endParaRPr lang="en-US"/>
          </a:p>
        </p:txBody>
      </p:sp>
      <p:sp>
        <p:nvSpPr>
          <p:cNvPr id="6" name="stat2_label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font roles, both set to Arial for faithful rendering</a:t>
            </a:r>
            <a:endParaRPr lang="en-US"/>
          </a:p>
        </p:txBody>
      </p:sp>
      <p:sp>
        <p:nvSpPr>
          <p:cNvPr id="7" name="stat3_value"/>
          <p:cNvSpPr/>
          <p:nvPr>
            <p:ph idx="108" type="body" hasCustomPrompt="1"/>
          </p:nvPr>
        </p:nvSpPr>
        <p:spPr/>
        <p:txBody>
          <a:bodyPr/>
          <a:lstStyle/>
          <a:p>
            <a:r>
              <a:rPr lang="en-US"/>
              <a:t>0</a:t>
            </a:r>
            <a:endParaRPr lang="en-US"/>
          </a:p>
        </p:txBody>
      </p:sp>
      <p:sp>
        <p:nvSpPr>
          <p:cNvPr id="8" name="stat3_label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proprietary assets: no logo, image or embedded font</a:t>
            </a:r>
            <a:endParaRPr lang="en-US"/>
          </a:p>
        </p:txBody>
      </p:sp>
      <p:sp>
        <p:nvSpPr>
          <p:cNvPr id="9" name="caption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Figures describe this template.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How the agent builds a deck</a:t>
            </a:r>
            <a:endParaRPr lang="en-US"/>
          </a:p>
        </p:txBody>
      </p:sp>
      <p:sp>
        <p:nvSpPr>
          <p:cNvPr id="3" name="step1_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Pick the template</a:t>
            </a:r>
            <a:endParaRPr lang="en-US"/>
          </a:p>
        </p:txBody>
      </p:sp>
      <p:sp>
        <p:nvSpPr>
          <p:cNvPr id="4" name="step1_body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 template if the user provided one, otherwise this default</a:t>
            </a:r>
            <a:endParaRPr lang="en-US"/>
          </a:p>
        </p:txBody>
      </p:sp>
      <p:sp>
        <p:nvSpPr>
          <p:cNvPr id="5" name="step2_title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Plan the story</a:t>
            </a:r>
            <a:endParaRPr lang="en-US"/>
          </a:p>
        </p:txBody>
      </p:sp>
      <p:sp>
        <p:nvSpPr>
          <p:cNvPr id="6" name="step2_body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One message per slide, mapped to a layout name</a:t>
            </a:r>
            <a:endParaRPr lang="en-US"/>
          </a:p>
        </p:txBody>
      </p:sp>
      <p:sp>
        <p:nvSpPr>
          <p:cNvPr id="7" name="step3_title"/>
          <p:cNvSpPr/>
          <p:nvPr>
            <p:ph idx="114" type="body" hasCustomPrompt="1"/>
          </p:nvPr>
        </p:nvSpPr>
        <p:spPr/>
        <p:txBody>
          <a:bodyPr/>
          <a:lstStyle/>
          <a:p>
            <a:r>
              <a:rPr lang="en-US"/>
              <a:t>Fill placeholders</a:t>
            </a:r>
            <a:endParaRPr lang="en-US"/>
          </a:p>
        </p:txBody>
      </p:sp>
      <p:sp>
        <p:nvSpPr>
          <p:cNvPr id="8" name="step3_body"/>
          <p:cNvSpPr/>
          <p:nvPr>
            <p:ph idx="115" type="body" hasCustomPrompt="1"/>
          </p:nvPr>
        </p:nvSpPr>
        <p:spPr/>
        <p:txBody>
          <a:bodyPr/>
          <a:lstStyle/>
          <a:p>
            <a:r>
              <a:rPr lang="en-US"/>
              <a:t>Text, charts and images go into named placeholders</a:t>
            </a:r>
            <a:endParaRPr lang="en-US"/>
          </a:p>
        </p:txBody>
      </p:sp>
      <p:sp>
        <p:nvSpPr>
          <p:cNvPr id="9" name="step4_title"/>
          <p:cNvSpPr/>
          <p:nvPr>
            <p:ph idx="119" type="body" hasCustomPrompt="1"/>
          </p:nvPr>
        </p:nvSpPr>
        <p:spPr/>
        <p:txBody>
          <a:bodyPr/>
          <a:lstStyle/>
          <a:p>
            <a:r>
              <a:rPr lang="en-US"/>
              <a:t>Check and deliver</a:t>
            </a:r>
            <a:endParaRPr lang="en-US"/>
          </a:p>
        </p:txBody>
      </p:sp>
      <p:sp>
        <p:nvSpPr>
          <p:cNvPr id="10" name="step4_body"/>
          <p:cNvSpPr/>
          <p:nvPr>
            <p:ph idx="120" type="body" hasCustomPrompt="1"/>
          </p:nvPr>
        </p:nvSpPr>
        <p:spPr/>
        <p:txBody>
          <a:bodyPr/>
          <a:lstStyle/>
          <a:p>
            <a:r>
              <a:rPr lang="en-US"/>
              <a:t>Validate the file and render a preview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Charts stay native and editable</a:t>
            </a:r>
            <a:endParaRPr lang="en-US"/>
          </a:p>
        </p:txBody>
      </p:sp>
      <p:graphicFrame>
        <p:nvGraphicFramePr>
          <p:cNvPr id="3" name="chart" descr=""/>
          <p:cNvGraphicFramePr/>
          <p:nvPr>
            <p:ph idx="101" type="chart" hasCustomPrompt="1"/>
          </p:nvPr>
        </p:nvGraphicFramePr>
        <p:xfrm>
          <a:off x="548640" y="1508760"/>
          <a:ext cx="7406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Charts use theme colours, so a custom template restyles them automatically.</a:t>
            </a:r>
            <a:endParaRPr lang="en-US"/>
          </a:p>
          <a:p>
            <a:endParaRPr lang="en-US"/>
          </a:p>
          <a:p>
            <a:r>
              <a:rPr lang="en-US"/>
              <a:t>Put the one sentence the audience must remember here.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Compare options side by side</a:t>
            </a:r>
            <a:endParaRPr lang="en-US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42084"/>
                <a:gridCol w="2042084"/>
                <a:gridCol w="2042084"/>
                <a:gridCol w="2042083"/>
              </a:tblGrid>
              <a:tr h="502920">
                <a:tc>
                  <a:txBody>
                    <a:bodyPr/>
                    <a:lstStyle/>
                    <a:p>
                      <a:r>
                        <a:rPr lang="en-US" sz="1400" dirty="0" b="1"/>
                        <a:t>Criterion</a:t>
                      </a:r>
                      <a:endParaRPr lang="en-US" sz="1400" dirty="0" b="1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lang="en-US" sz="1400" dirty="0" b="1"/>
                        <a:t>Option A</a:t>
                      </a:r>
                      <a:endParaRPr lang="en-US" sz="1400" dirty="0" b="1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lang="en-US" sz="1400" dirty="0" b="1"/>
                        <a:t>Option B</a:t>
                      </a:r>
                      <a:endParaRPr lang="en-US" sz="1400" dirty="0" b="1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lang="en-US" sz="1400" dirty="0" b="1"/>
                        <a:t>Option C</a:t>
                      </a:r>
                      <a:endParaRPr lang="en-US" sz="1400" dirty="0" b="1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r>
                        <a:rPr lang="en-US" sz="1400" dirty="0" b="1"/>
                        <a:t>Option D</a:t>
                      </a:r>
                      <a:endParaRPr lang="en-US" sz="1400" dirty="0" b="1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  <a:tr h="402336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137160" marR="137160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A template is a promise: whatever the user asks for, the deck will look like it belongs together.</a:t>
            </a:r>
            <a:endParaRPr lang="en-US"/>
          </a:p>
        </p:txBody>
      </p:sp>
      <p:sp>
        <p:nvSpPr>
          <p:cNvPr id="3" name="attribution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Design principle of the default template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Title Only leaves the canvas free</a:t>
            </a:r>
            <a:endParaRPr lang="en-US"/>
          </a:p>
        </p:txBody>
      </p:sp>
      <p:sp>
        <p:nvSpPr>
          <p:cNvPr id="3" name="free_block_1"/>
          <p:cNvSpPr/>
          <p:nvPr/>
        </p:nvSpPr>
        <p:spPr>
          <a:xfrm>
            <a:off x="548640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Diagrams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6" name="free_block_2"/>
          <p:cNvSpPr/>
          <p:nvPr/>
        </p:nvSpPr>
        <p:spPr>
          <a:xfrm>
            <a:off x="4368698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88738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Screenshots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88738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9" name="free_block_3"/>
          <p:cNvSpPr/>
          <p:nvPr/>
        </p:nvSpPr>
        <p:spPr>
          <a:xfrm>
            <a:off x="8188757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8797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Custom visuals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508797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Bring your own template, or use this one</a:t>
            </a:r>
            <a:endParaRPr lang="en-US"/>
          </a:p>
        </p:txBody>
      </p:sp>
      <p:sp>
        <p:nvSpPr>
          <p:cNvPr id="3" name="body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github.com/ThalesGroup/fred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One chart across the slide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>
            <p:ph type="chart" idx="101"/>
          </p:nvPr>
        </p:nvGraphicFramePr>
        <p:xfrm>
          <a:off x="548640" y="1508760"/>
          <a:ext cx="11094415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red Default">
  <a:themeElements>
    <a:clrScheme name="Fred Default">
      <a:dk1>
        <a:srgbClr val="1B1C1E"/>
      </a:dk1>
      <a:lt1>
        <a:srgbClr val="FFFFFF"/>
      </a:lt1>
      <a:dk2>
        <a:srgbClr val="0F134F"/>
      </a:dk2>
      <a:lt2>
        <a:srgbClr val="F2F3F6"/>
      </a:lt2>
      <a:accent1>
        <a:srgbClr val="4851C3"/>
      </a:accent1>
      <a:accent2>
        <a:srgbClr val="1C8199"/>
      </a:accent2>
      <a:accent3>
        <a:srgbClr val="575A8A"/>
      </a:accent3>
      <a:accent4>
        <a:srgbClr val="9CA4FF"/>
      </a:accent4>
      <a:accent5>
        <a:srgbClr val="2C6A41"/>
      </a:accent5>
      <a:accent6>
        <a:srgbClr val="C26A00"/>
      </a:accent6>
      <a:hlink>
        <a:srgbClr val="4851C3"/>
      </a:hlink>
      <a:folHlink>
        <a:srgbClr val="575A8A"/>
      </a:folHlink>
    </a:clrScheme>
    <a:fontScheme name="Fred Defaul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Fred open source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Fred default presentation template</dc:title>
  <dc:subject>PptxGenJS Presentation</dc:subject>
  <dc:creator>Fred contributors</dc:creator>
  <cp:lastModifiedBy>Fred contributors</cp:lastModifiedBy>
  <cp:revision>1</cp:revision>
  <dcterms:created xsi:type="dcterms:W3CDTF">2026-10-05T16:10:52Z</dcterms:created>
  <dcterms:modified xsi:type="dcterms:W3CDTF">2026-10-05T16:10:52Z</dcterms:modified>
  <cp:keywords>fred; template; slides</cp:keywords>
</cp:coreProperties>
</file>